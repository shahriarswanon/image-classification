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6" r:id="rId2"/>
    <p:sldId id="262" r:id="rId3"/>
    <p:sldId id="261" r:id="rId4"/>
    <p:sldId id="257" r:id="rId5"/>
    <p:sldId id="258" r:id="rId6"/>
    <p:sldId id="260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FF58B-33C0-4646-BCA7-7C593B7A0FE3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D4EFA-ADDD-486E-9347-A150D4D34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3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367C-8D2E-4F1E-AADC-B631A58E9EF5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65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33F2A-D80A-4F43-B861-29D9B9F43FAD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77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004F-ED78-4DFE-85E9-82BB2A963D39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922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1A57-1DB6-4D50-A690-541574AE2452}" type="datetime1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3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4D74A-602F-4992-9673-485302315EBE}" type="datetime1">
              <a:rPr lang="en-US" smtClean="0"/>
              <a:t>29-Apr-26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5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6BD2-473F-434F-9DEF-59C7EA05502B}" type="datetime1">
              <a:rPr lang="en-US" smtClean="0"/>
              <a:t>29-Apr-26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7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D5BDB-37CD-4DB4-9BF3-8A86D61F3ED1}" type="datetime1">
              <a:rPr lang="en-US" smtClean="0"/>
              <a:t>29-Apr-26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0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90B0-7DD3-4ACB-87FB-AF5304FC3F64}" type="datetime1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93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67489AB-EA13-4A49-8AA8-15872226495E}" type="datetime1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82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14D89-C2E4-46CD-AD11-843C1776A008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450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8E802-E9D5-456E-8951-F466A7A63E14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2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F80D-1472-4B12-900B-C65C4377AAFD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Group: 1 Shahriar Swanon, Md. Abu Sufian Protik, Khandakar Atikur Ahsan, Md. Faiaz Bin Hayder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E82AB0E-D3C6-4F4C-9BA6-BEAFA61133E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81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A2B5-1BD2-7836-83E0-44C2EEEE4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224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F107B-E427-AF82-548A-271054E7B7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7CF258-57AB-5D88-9B43-EE06A78CA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44607-A8E2-BD88-EDE4-D138ED28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3262798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87E8-4D52-1BDD-67D5-07C1088BA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FE482-72FD-B8F7-2FE4-8EE399EF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Shahriar Swanon (2231540642)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Abu Sufian Protik (2312234042)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Khandakar Atikur Ahsan (2222120642)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Faiaz Bin Hayder (2222629042)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17181-1924-B090-90B8-9D1EE370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288273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1D3B-644D-83C7-E88D-D981D2095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AEE7-CCB9-E093-495B-0408993C3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– 111 images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Cow – 101 images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 – 105 images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 – 107 images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Zebra – 108 images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9079F-DA33-469F-B9D7-030A84B2E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199974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B6CE-3AAE-82BE-E0CC-A3A8850D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8942-4A91-884E-3F16-C97802E87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78CF8-4C59-14F0-E0F7-44876598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40862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08B1-4156-0DDE-406D-5BE2D92D6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BA162-8C1E-3222-236C-A0D970D9D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4"/>
            <a:ext cx="4635452" cy="386395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SVM because it performs well on small datasets and high dimensional data.</a:t>
            </a:r>
          </a:p>
          <a:p>
            <a:pPr>
              <a:lnSpc>
                <a:spcPct val="11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model non-linear decision boundaries using kernel functions.</a:t>
            </a:r>
          </a:p>
          <a:p>
            <a:pPr>
              <a:lnSpc>
                <a:spcPct val="11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HOG feature extraction was used to provide meaningful input features for the model.</a:t>
            </a:r>
          </a:p>
          <a:p>
            <a:pPr>
              <a:lnSpc>
                <a:spcPct val="11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due to limited dataset size, the model shows overfitting and the model achieved around 59% test accuracy.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C5E365-88BF-414F-BCAA-44E1BE4AC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4411" y="2012810"/>
            <a:ext cx="4964072" cy="3459865"/>
            <a:chOff x="6094411" y="2012810"/>
            <a:chExt cx="4964072" cy="345986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5C39A7A-76D9-48CC-8686-30B2A070B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4411" y="2012810"/>
              <a:ext cx="496407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E1C69C7-755B-4C1D-874A-17E9D20D32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3318" y="2182137"/>
              <a:ext cx="4631437" cy="313000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4E2BAA0-0780-4EAF-A0FF-5E327B4E6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7044" y="2345863"/>
            <a:ext cx="4291426" cy="27976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2F41D89B-A675-6DCF-DC01-426EA094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869" y="3103302"/>
            <a:ext cx="3993156" cy="12778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7D188-F087-54C7-DB11-589C6F65B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322477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F1CDBC7-855D-EB8F-71D1-5176F8167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  and Confusion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79F1E6-DCA2-0332-AAF4-7F315501C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0" y="2131514"/>
            <a:ext cx="4522840" cy="34199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D953FC-BB2F-9DBF-058A-753C946F8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900" y="2085485"/>
            <a:ext cx="3770070" cy="351205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22A648-4065-5C32-8FF4-4797E074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3133415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41315-863A-BBCB-B90B-640B8E98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4E3A59-9D90-245A-FC20-B8221F21D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490892" cy="382462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for its simplicity and interpretability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multi-class image classification with extracted features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 and works well with color histogram features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RGB color histograms (32 bins per channel → 96 features per image)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normalized via standardization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PCA to reduce dimensionality while retaining 85% variance (reduced from 96 to 19 dimensions)</a:t>
            </a:r>
          </a:p>
          <a:p>
            <a:pPr>
              <a:lnSpc>
                <a:spcPct val="11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401815-9C3D-43EE-B4E4-2504090CE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DC52205-72B7-41BE-99DF-6B24F25ED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98BFFC9-C8B3-41FE-B9CC-C492B0794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1B698DD-2B14-B27F-D8D0-DA5D8A1BE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" b="3"/>
          <a:stretch>
            <a:fillRect/>
          </a:stretch>
        </p:blipFill>
        <p:spPr>
          <a:xfrm>
            <a:off x="6277257" y="2174242"/>
            <a:ext cx="4613872" cy="3124351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157EA83-5761-F32E-7A16-D3842A02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770610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84AF-A38F-B30E-5ED0-349F9702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F68F-3D7F-EFCA-8620-D42827DC5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62555" cy="3450613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287BC76-C35A-492C-DD94-BCB38FD2E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015734"/>
            <a:ext cx="9603275" cy="3805946"/>
          </a:xfrm>
          <a:prstGeom prst="rect">
            <a:avLst/>
          </a:prstGeom>
        </p:spPr>
      </p:pic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D301E81C-C27C-6573-C771-714C3B6F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</p:spTree>
    <p:extLst>
      <p:ext uri="{BB962C8B-B14F-4D97-AF65-F5344CB8AC3E}">
        <p14:creationId xmlns:p14="http://schemas.microsoft.com/office/powerpoint/2010/main" val="140161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A3E8-FFF1-2476-F9AA-A5591C7D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47C88-15FF-922E-F431-5AEA32098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3D14F9EC-5F0D-F89C-BA6A-8D4303B5E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22631"/>
              </p:ext>
            </p:extLst>
          </p:nvPr>
        </p:nvGraphicFramePr>
        <p:xfrm>
          <a:off x="1451578" y="2689567"/>
          <a:ext cx="9603276" cy="2890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819">
                  <a:extLst>
                    <a:ext uri="{9D8B030D-6E8A-4147-A177-3AD203B41FA5}">
                      <a16:colId xmlns:a16="http://schemas.microsoft.com/office/drawing/2014/main" val="2266698066"/>
                    </a:ext>
                  </a:extLst>
                </a:gridCol>
                <a:gridCol w="2400819">
                  <a:extLst>
                    <a:ext uri="{9D8B030D-6E8A-4147-A177-3AD203B41FA5}">
                      <a16:colId xmlns:a16="http://schemas.microsoft.com/office/drawing/2014/main" val="2945998757"/>
                    </a:ext>
                  </a:extLst>
                </a:gridCol>
                <a:gridCol w="2400819">
                  <a:extLst>
                    <a:ext uri="{9D8B030D-6E8A-4147-A177-3AD203B41FA5}">
                      <a16:colId xmlns:a16="http://schemas.microsoft.com/office/drawing/2014/main" val="2474489308"/>
                    </a:ext>
                  </a:extLst>
                </a:gridCol>
                <a:gridCol w="2400819">
                  <a:extLst>
                    <a:ext uri="{9D8B030D-6E8A-4147-A177-3AD203B41FA5}">
                      <a16:colId xmlns:a16="http://schemas.microsoft.com/office/drawing/2014/main" val="2770048594"/>
                    </a:ext>
                  </a:extLst>
                </a:gridCol>
              </a:tblGrid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Animal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128658"/>
                  </a:ext>
                </a:extLst>
              </a:tr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345320"/>
                  </a:ext>
                </a:extLst>
              </a:tr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008725"/>
                  </a:ext>
                </a:extLst>
              </a:tr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770020"/>
                  </a:ext>
                </a:extLst>
              </a:tr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810109"/>
                  </a:ext>
                </a:extLst>
              </a:tr>
              <a:tr h="481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743780"/>
                  </a:ext>
                </a:extLst>
              </a:tr>
            </a:tbl>
          </a:graphicData>
        </a:graphic>
      </p:graphicFrame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C06C86D-1207-0503-02DB-5DF5A1B72AB6}"/>
              </a:ext>
            </a:extLst>
          </p:cNvPr>
          <p:cNvSpPr txBox="1">
            <a:spLocks/>
          </p:cNvSpPr>
          <p:nvPr/>
        </p:nvSpPr>
        <p:spPr>
          <a:xfrm>
            <a:off x="1451579" y="2015735"/>
            <a:ext cx="4349453" cy="963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 93.67%</a:t>
            </a:r>
          </a:p>
          <a:p>
            <a:pPr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777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C70120-175A-6577-FC35-2D96D948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D5F49-E2A3-5CCA-87C5-DDECD2CAD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5-class animal image recognition system built with transfer learning. MobileNetV2 (pretrained on ImageNet) extracts 1,280-dimensional feature vectors from each image. A Logistic Regression classifier is then trained on those features, achieving 96.5% test accuracy across cat, cow, dog, lamb, and zebra classes.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2157A6-80DA-740E-A52F-A40F7C9D2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61" y="805583"/>
            <a:ext cx="3623742" cy="466076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F37F622-5B3C-1BFC-5EB7-787F0FA63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188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9CF5032-DB90-6F15-904D-2F65B0B3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architecture </a:t>
            </a:r>
          </a:p>
        </p:txBody>
      </p:sp>
      <p:pic>
        <p:nvPicPr>
          <p:cNvPr id="81" name="Content Placeholder 80">
            <a:extLst>
              <a:ext uri="{FF2B5EF4-FFF2-40B4-BE49-F238E27FC236}">
                <a16:creationId xmlns:a16="http://schemas.microsoft.com/office/drawing/2014/main" id="{EAC76F70-235C-6E8C-0344-B8F910F68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1579" y="2015732"/>
            <a:ext cx="9108266" cy="4098721"/>
          </a:xfrm>
          <a:prstGeom prst="rect">
            <a:avLst/>
          </a:prstGeom>
        </p:spPr>
      </p:pic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11FCF99B-0773-88A6-D4F0-F0AC7A52D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925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D23595C-B1F7-5FBF-3D2B-8B3EBED2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performance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2F0A5B-7E8B-F619-4B6B-FB89D214F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1578" y="2015732"/>
            <a:ext cx="9603275" cy="4037744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96B7A14-3D8A-2193-1194-D8A8314B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15550"/>
            <a:ext cx="12192000" cy="432618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                                    								Shahriar Swanon, Md. Abu Sufian Protik, Khandakar Atikur Ahsan, Md. Faiaz Bin Hayder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1496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345</TotalTime>
  <Words>633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Gill Sans MT</vt:lpstr>
      <vt:lpstr>Times New Roman</vt:lpstr>
      <vt:lpstr>Gallery</vt:lpstr>
      <vt:lpstr>PowerPoint Presentation</vt:lpstr>
      <vt:lpstr>Group members</vt:lpstr>
      <vt:lpstr>Dataset</vt:lpstr>
      <vt:lpstr>Models</vt:lpstr>
      <vt:lpstr>Support vector machine (SVM)</vt:lpstr>
      <vt:lpstr>Learning curve  and Confusion Matrix</vt:lpstr>
      <vt:lpstr>K-Nearest Neighbors (KNN) </vt:lpstr>
      <vt:lpstr>Results</vt:lpstr>
      <vt:lpstr>Results</vt:lpstr>
      <vt:lpstr>Logistic Regression</vt:lpstr>
      <vt:lpstr>Pipeline architecture </vt:lpstr>
      <vt:lpstr>Results and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Shahriar Swanon</dc:creator>
  <cp:lastModifiedBy>Shahriar Swanon</cp:lastModifiedBy>
  <cp:revision>80</cp:revision>
  <dcterms:created xsi:type="dcterms:W3CDTF">2026-04-24T20:45:09Z</dcterms:created>
  <dcterms:modified xsi:type="dcterms:W3CDTF">2026-04-29T08:17:41Z</dcterms:modified>
</cp:coreProperties>
</file>